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580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372181"/>
            <a:ext cx="91440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Calibri"/>
              <a:buNone/>
            </a:pPr>
            <a:r>
              <a:rPr b="0" i="0" lang="en-US" sz="9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🐄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0" y="2018101"/>
            <a:ext cx="91440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VAQUITAPP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914400" y="2997482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DEBA"/>
              </a:buClr>
              <a:buSzPts val="1800"/>
              <a:buFont typeface="Calibri"/>
              <a:buNone/>
            </a:pPr>
            <a:r>
              <a:rPr b="0" i="0" lang="en-US" sz="2000" u="none" cap="none" strike="noStrike">
                <a:solidFill>
                  <a:srgbClr val="FDDEBA"/>
                </a:solidFill>
                <a:latin typeface="Calibri"/>
                <a:ea typeface="Calibri"/>
                <a:cs typeface="Calibri"/>
                <a:sym typeface="Calibri"/>
              </a:rPr>
              <a:t>Vaquitas digitales grupales con blockchain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200400" y="3749040"/>
            <a:ext cx="2743200" cy="457200"/>
          </a:xfrm>
          <a:prstGeom prst="roundRect">
            <a:avLst>
              <a:gd fmla="val 50000" name="adj"/>
            </a:avLst>
          </a:prstGeom>
          <a:solidFill>
            <a:srgbClr val="FFFFFF">
              <a:alpha val="20000"/>
            </a:srgbClr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3200400" y="37490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Universidad Champagnat ·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ED7AA"/>
                </a:solidFill>
                <a:latin typeface="Calibri"/>
                <a:ea typeface="Calibri"/>
                <a:cs typeface="Calibri"/>
                <a:sym typeface="Calibri"/>
              </a:rPr>
              <a:t>01  —  El Problema</a:t>
            </a:r>
            <a:endParaRPr b="0" i="0" sz="1600" u="none" cap="none" strike="noStrike">
              <a:solidFill>
                <a:srgbClr val="FED7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57200" y="7772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¿Quién puso qué?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57200" y="1691640"/>
            <a:ext cx="8229600" cy="749808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1905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0" name="Google Shape;30;p4"/>
          <p:cNvSpPr/>
          <p:nvPr/>
        </p:nvSpPr>
        <p:spPr>
          <a:xfrm>
            <a:off x="640080" y="1691640"/>
            <a:ext cx="5486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😤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371600" y="1691640"/>
            <a:ext cx="71323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500"/>
              <a:buFont typeface="Calibri"/>
              <a:buNone/>
            </a:pPr>
            <a:r>
              <a:rPr b="0" i="1" lang="en-US" sz="18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"¿Cuánto pusiste vos? Porque yo puse más..."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57200" y="2606040"/>
            <a:ext cx="8229600" cy="749808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1905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3" name="Google Shape;33;p4"/>
          <p:cNvSpPr/>
          <p:nvPr/>
        </p:nvSpPr>
        <p:spPr>
          <a:xfrm>
            <a:off x="640080" y="2606040"/>
            <a:ext cx="5486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📵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371600" y="2606040"/>
            <a:ext cx="71323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500"/>
              <a:buFont typeface="Calibri"/>
              <a:buNone/>
            </a:pPr>
            <a:r>
              <a:rPr b="0" i="1" lang="en-US" sz="18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"El organizador no contesta y ya gastó la plata"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57200" y="3520440"/>
            <a:ext cx="8229600" cy="749808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1905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6" name="Google Shape;36;p4"/>
          <p:cNvSpPr/>
          <p:nvPr/>
        </p:nvSpPr>
        <p:spPr>
          <a:xfrm>
            <a:off x="640080" y="3520440"/>
            <a:ext cx="5486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🤷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371600" y="3520440"/>
            <a:ext cx="71323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500"/>
              <a:buFont typeface="Calibri"/>
              <a:buNone/>
            </a:pPr>
            <a:r>
              <a:rPr b="0" i="1" lang="en-US" sz="18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"No hay registro de cuánto se recaudó ni cuánto queda"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8716C"/>
              </a:buClr>
              <a:buSzPts val="1300"/>
              <a:buFont typeface="Calibri"/>
              <a:buNone/>
            </a:pPr>
            <a:r>
              <a:rPr b="0" i="1" lang="en-US" sz="1600" u="none" cap="none" strike="noStrike">
                <a:solidFill>
                  <a:srgbClr val="78716C"/>
                </a:solidFill>
                <a:latin typeface="Calibri"/>
                <a:ea typeface="Calibri"/>
                <a:cs typeface="Calibri"/>
                <a:sym typeface="Calibri"/>
              </a:rPr>
              <a:t>Sin transparencia, las vaquitas generan conflictos.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ED7AA"/>
                </a:solidFill>
                <a:latin typeface="Calibri"/>
                <a:ea typeface="Calibri"/>
                <a:cs typeface="Calibri"/>
                <a:sym typeface="Calibri"/>
              </a:rPr>
              <a:t>02  —  La Solución</a:t>
            </a:r>
            <a:endParaRPr b="0" i="0" sz="1600" u="none" cap="none" strike="noStrike">
              <a:solidFill>
                <a:srgbClr val="FED7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0" y="73152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Vaquitapp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914400" y="1523337"/>
            <a:ext cx="7315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8716C"/>
              </a:buClr>
              <a:buSzPts val="1400"/>
              <a:buFont typeface="Calibri"/>
              <a:buNone/>
            </a:pPr>
            <a:r>
              <a:rPr b="0" i="0" lang="en-US" sz="1700" u="none" cap="none" strike="noStrike">
                <a:solidFill>
                  <a:srgbClr val="78716C"/>
                </a:solidFill>
                <a:latin typeface="Calibri"/>
                <a:ea typeface="Calibri"/>
                <a:cs typeface="Calibri"/>
                <a:sym typeface="Calibri"/>
              </a:rPr>
              <a:t>Un historial transparente e inmutable que no lo puede modificar nadie.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1389833" y="2071973"/>
            <a:ext cx="2011800" cy="256020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905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9" name="Google Shape;49;p5"/>
          <p:cNvSpPr/>
          <p:nvPr/>
        </p:nvSpPr>
        <p:spPr>
          <a:xfrm>
            <a:off x="1389833" y="2209133"/>
            <a:ext cx="2011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1389833" y="2894933"/>
            <a:ext cx="201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Blockchain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1499561" y="3306413"/>
            <a:ext cx="1792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050"/>
              <a:buFont typeface="Calibri"/>
              <a:buNone/>
            </a:pPr>
            <a:r>
              <a:rPr b="0" i="0" lang="en-US" sz="155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Cada aporte y gasto queda registrado on-chain para siempre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3566105" y="2071973"/>
            <a:ext cx="2011800" cy="256020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905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3" name="Google Shape;53;p5"/>
          <p:cNvSpPr/>
          <p:nvPr/>
        </p:nvSpPr>
        <p:spPr>
          <a:xfrm>
            <a:off x="3566105" y="2209133"/>
            <a:ext cx="2011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👛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3566105" y="2894933"/>
            <a:ext cx="201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MetaMask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3675832" y="3306413"/>
            <a:ext cx="1792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050"/>
              <a:buFont typeface="Calibri"/>
              <a:buNone/>
            </a:pPr>
            <a:r>
              <a:rPr b="0" i="0" lang="en-US" sz="155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Identidad = wallet. Sin email ni contraseña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742377" y="2071973"/>
            <a:ext cx="2011800" cy="2560200"/>
          </a:xfrm>
          <a:prstGeom prst="roundRect">
            <a:avLst>
              <a:gd fmla="val 5455" name="adj"/>
            </a:avLst>
          </a:prstGeom>
          <a:solidFill>
            <a:srgbClr val="FFFFFF"/>
          </a:solidFill>
          <a:ln cap="flat" cmpd="sng" w="1905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57" name="Google Shape;57;p5"/>
          <p:cNvSpPr/>
          <p:nvPr/>
        </p:nvSpPr>
        <p:spPr>
          <a:xfrm>
            <a:off x="5742377" y="2209133"/>
            <a:ext cx="2011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👑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742377" y="2894933"/>
            <a:ext cx="2011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Roles claros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5852105" y="3306413"/>
            <a:ext cx="1792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050"/>
              <a:buFont typeface="Calibri"/>
              <a:buNone/>
            </a:pPr>
            <a:r>
              <a:rPr b="0" i="0" lang="en-US" sz="155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Admin aprueba miembros, </a:t>
            </a:r>
            <a:r>
              <a:rPr lang="en-US" sz="155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confirma aportes</a:t>
            </a:r>
            <a:r>
              <a:rPr b="0" i="0" lang="en-US" sz="155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y controla saldos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ED7AA"/>
                </a:solidFill>
                <a:latin typeface="Calibri"/>
                <a:ea typeface="Calibri"/>
                <a:cs typeface="Calibri"/>
                <a:sym typeface="Calibri"/>
              </a:rPr>
              <a:t>03  —  Cómo Funciona</a:t>
            </a:r>
            <a:endParaRPr b="0" i="0" sz="1600" u="none" cap="none" strike="noStrike">
              <a:solidFill>
                <a:srgbClr val="FED7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274320" y="777240"/>
            <a:ext cx="2743200" cy="1828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905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68" name="Google Shape;68;p6"/>
          <p:cNvSpPr/>
          <p:nvPr/>
        </p:nvSpPr>
        <p:spPr>
          <a:xfrm>
            <a:off x="402336" y="905256"/>
            <a:ext cx="402336" cy="402336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402336" y="90525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736388" y="859861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👛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02336" y="141732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Conectar wallet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02336" y="178308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000"/>
              <a:buFont typeface="Calibri"/>
              <a:buNone/>
            </a:pPr>
            <a:r>
              <a:rPr b="0" i="0" lang="en-US" sz="15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MetaMask autentica al usuario con su dirección blockchain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3172968" y="777240"/>
            <a:ext cx="2743200" cy="1828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905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74" name="Google Shape;74;p6"/>
          <p:cNvSpPr/>
          <p:nvPr/>
        </p:nvSpPr>
        <p:spPr>
          <a:xfrm>
            <a:off x="3300984" y="905256"/>
            <a:ext cx="402336" cy="402336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3300984" y="90525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3635036" y="859861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🐄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3300984" y="141732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Crear vaquita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3300984" y="178308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000"/>
              <a:buFont typeface="Calibri"/>
              <a:buNone/>
            </a:pPr>
            <a:r>
              <a:rPr b="0" i="0" lang="en-US" sz="15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Nombre, categoría, objetivo y visibilidad pública/privada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6071616" y="777240"/>
            <a:ext cx="2743200" cy="1828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905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0" name="Google Shape;80;p6"/>
          <p:cNvSpPr/>
          <p:nvPr/>
        </p:nvSpPr>
        <p:spPr>
          <a:xfrm>
            <a:off x="6199632" y="905256"/>
            <a:ext cx="402336" cy="402336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6199632" y="90525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6533684" y="859861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🤝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6199632" y="141732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Invitar miembros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6199632" y="178308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000"/>
              <a:buFont typeface="Calibri"/>
              <a:buNone/>
            </a:pPr>
            <a:r>
              <a:rPr b="0" i="0" lang="en-US" sz="15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Los usuarios solicitan unirse y el admin aprueba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274320" y="2834640"/>
            <a:ext cx="2743200" cy="1828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905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86" name="Google Shape;86;p6"/>
          <p:cNvSpPr/>
          <p:nvPr/>
        </p:nvSpPr>
        <p:spPr>
          <a:xfrm>
            <a:off x="402336" y="2962656"/>
            <a:ext cx="402336" cy="402336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402336" y="296265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736388" y="2917261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02336" y="347472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Aportar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02336" y="384048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000"/>
              <a:buFont typeface="Calibri"/>
              <a:buNone/>
            </a:pPr>
            <a:r>
              <a:rPr b="0" i="0" lang="en-US" sz="15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Cada miembro registra su aporte en VAQ$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3172968" y="2834640"/>
            <a:ext cx="2743200" cy="1828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905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2" name="Google Shape;92;p6"/>
          <p:cNvSpPr/>
          <p:nvPr/>
        </p:nvSpPr>
        <p:spPr>
          <a:xfrm>
            <a:off x="3300984" y="2962656"/>
            <a:ext cx="402336" cy="402336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3300984" y="296265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3635036" y="2917261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🧾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3300984" y="347472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Cargar gastos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3300984" y="384048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000"/>
              <a:buFont typeface="Calibri"/>
              <a:buNone/>
            </a:pPr>
            <a:r>
              <a:rPr b="0" i="0" lang="en-US" sz="15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El admin registra gastos con concepto y categoría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6071616" y="2834640"/>
            <a:ext cx="2743200" cy="18288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905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8" name="Google Shape;98;p6"/>
          <p:cNvSpPr/>
          <p:nvPr/>
        </p:nvSpPr>
        <p:spPr>
          <a:xfrm>
            <a:off x="6199632" y="2962656"/>
            <a:ext cx="402336" cy="402336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6199632" y="296265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533684" y="2917261"/>
            <a:ext cx="594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199632" y="347472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Ver historial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6199632" y="384048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000"/>
              <a:buFont typeface="Calibri"/>
              <a:buNone/>
            </a:pPr>
            <a:r>
              <a:rPr b="0" i="0" lang="en-US" sz="15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Saldo en tiempo real e historial transparente on-chain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580C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/>
          <p:nvPr/>
        </p:nvSpPr>
        <p:spPr>
          <a:xfrm>
            <a:off x="0" y="720302"/>
            <a:ext cx="91440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nmutabilidad y transparencia.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57200" y="1408501"/>
            <a:ext cx="2606100" cy="2926200"/>
          </a:xfrm>
          <a:prstGeom prst="roundRect">
            <a:avLst>
              <a:gd fmla="val 4912" name="adj"/>
            </a:avLst>
          </a:prstGeom>
          <a:solidFill>
            <a:srgbClr val="FFFFFF">
              <a:alpha val="85098"/>
            </a:srgbClr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10" name="Google Shape;110;p7"/>
          <p:cNvSpPr/>
          <p:nvPr/>
        </p:nvSpPr>
        <p:spPr>
          <a:xfrm>
            <a:off x="457200" y="1545661"/>
            <a:ext cx="2606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4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57200" y="2322901"/>
            <a:ext cx="260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700"/>
              <a:buFont typeface="Calibri"/>
              <a:buNone/>
            </a:pPr>
            <a:r>
              <a:rPr b="1" i="0" lang="en-US" sz="22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Inmutable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594360" y="2825821"/>
            <a:ext cx="233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8716C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rgbClr val="78716C"/>
                </a:solidFill>
                <a:latin typeface="Calibri"/>
                <a:ea typeface="Calibri"/>
                <a:cs typeface="Calibri"/>
                <a:sym typeface="Calibri"/>
              </a:rPr>
              <a:t>Una vez registrado, ningún dato puede ser editado ni borrado. Ni el admin puede.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3291840" y="1408501"/>
            <a:ext cx="2606100" cy="2926200"/>
          </a:xfrm>
          <a:prstGeom prst="roundRect">
            <a:avLst>
              <a:gd fmla="val 4912" name="adj"/>
            </a:avLst>
          </a:prstGeom>
          <a:solidFill>
            <a:srgbClr val="FFFFFF">
              <a:alpha val="85098"/>
            </a:srgbClr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14" name="Google Shape;114;p7"/>
          <p:cNvSpPr/>
          <p:nvPr/>
        </p:nvSpPr>
        <p:spPr>
          <a:xfrm>
            <a:off x="3291840" y="1545661"/>
            <a:ext cx="2606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4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👁️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3291840" y="2322901"/>
            <a:ext cx="260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700"/>
              <a:buFont typeface="Calibri"/>
              <a:buNone/>
            </a:pPr>
            <a:r>
              <a:rPr b="1" i="0" lang="en-US" sz="22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Auditable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3429000" y="2825821"/>
            <a:ext cx="233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8716C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rgbClr val="78716C"/>
                </a:solidFill>
                <a:latin typeface="Calibri"/>
                <a:ea typeface="Calibri"/>
                <a:cs typeface="Calibri"/>
                <a:sym typeface="Calibri"/>
              </a:rPr>
              <a:t>Cualquiera puede verificar el historial. Los eventos son públicos en la blockchain.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126480" y="1408501"/>
            <a:ext cx="2606100" cy="2926200"/>
          </a:xfrm>
          <a:prstGeom prst="roundRect">
            <a:avLst>
              <a:gd fmla="val 4912" name="adj"/>
            </a:avLst>
          </a:prstGeom>
          <a:solidFill>
            <a:srgbClr val="FFFFFF">
              <a:alpha val="85098"/>
            </a:srgbClr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18" name="Google Shape;118;p7"/>
          <p:cNvSpPr/>
          <p:nvPr/>
        </p:nvSpPr>
        <p:spPr>
          <a:xfrm>
            <a:off x="6126480" y="1545661"/>
            <a:ext cx="2606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4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126480" y="2322901"/>
            <a:ext cx="2606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700"/>
              <a:buFont typeface="Calibri"/>
              <a:buNone/>
            </a:pPr>
            <a:r>
              <a:rPr b="1" i="0" lang="en-US" sz="220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Sin intermediarios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263640" y="2825821"/>
            <a:ext cx="233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8716C"/>
              </a:buClr>
              <a:buSzPts val="1150"/>
              <a:buFont typeface="Calibri"/>
              <a:buNone/>
            </a:pPr>
            <a:r>
              <a:rPr b="0" i="0" lang="en-US" sz="1650" u="none" cap="none" strike="noStrike">
                <a:solidFill>
                  <a:srgbClr val="78716C"/>
                </a:solidFill>
                <a:latin typeface="Calibri"/>
                <a:ea typeface="Calibri"/>
                <a:cs typeface="Calibri"/>
                <a:sym typeface="Calibri"/>
              </a:rPr>
              <a:t>No hay banco, no hay plataforma central. El contrato ejecuta las reglas solo.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57200" y="4502221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DEBA"/>
              </a:buClr>
              <a:buSzPts val="1200"/>
              <a:buFont typeface="Calibri"/>
              <a:buNone/>
            </a:pPr>
            <a:r>
              <a:rPr i="1" lang="en-US" sz="1600" u="none" cap="none" strike="noStrike">
                <a:solidFill>
                  <a:srgbClr val="FDDEBA"/>
                </a:solidFill>
                <a:latin typeface="Calibri"/>
                <a:ea typeface="Calibri"/>
                <a:cs typeface="Calibri"/>
                <a:sym typeface="Calibri"/>
              </a:rPr>
              <a:t>"No hace falta confiar en el organizador: el historial habla solo."</a:t>
            </a:r>
            <a:endParaRPr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365760" y="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FDDEBA"/>
                </a:solidFill>
                <a:latin typeface="Calibri"/>
                <a:ea typeface="Calibri"/>
                <a:cs typeface="Calibri"/>
                <a:sym typeface="Calibri"/>
              </a:rPr>
              <a:t>04  —  ¿Por qué Blockchain?</a:t>
            </a:r>
            <a:endParaRPr b="1" sz="1600">
              <a:solidFill>
                <a:srgbClr val="FED7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ED7AA"/>
                </a:solidFill>
                <a:latin typeface="Calibri"/>
                <a:ea typeface="Calibri"/>
                <a:cs typeface="Calibri"/>
                <a:sym typeface="Calibri"/>
              </a:rPr>
              <a:t>05  —  Stack Tecnológico</a:t>
            </a:r>
            <a:endParaRPr b="0" i="0" sz="1600" u="none" cap="none" strike="noStrike">
              <a:solidFill>
                <a:srgbClr val="FED7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274325" y="929649"/>
            <a:ext cx="2743200" cy="1650000"/>
          </a:xfrm>
          <a:prstGeom prst="roundRect">
            <a:avLst>
              <a:gd fmla="val 5854" name="adj"/>
            </a:avLst>
          </a:prstGeom>
          <a:solidFill>
            <a:srgbClr val="FFFFFF"/>
          </a:solidFill>
          <a:ln cap="flat" cmpd="sng" w="1905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31" name="Google Shape;131;p8"/>
          <p:cNvSpPr/>
          <p:nvPr/>
        </p:nvSpPr>
        <p:spPr>
          <a:xfrm>
            <a:off x="274320" y="1021080"/>
            <a:ext cx="731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⛓️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1005840" y="1021080"/>
            <a:ext cx="1920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Solidity 0.8.24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1005840" y="1386840"/>
            <a:ext cx="192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16C"/>
              </a:buClr>
              <a:buSzPts val="950"/>
              <a:buFont typeface="Calibri"/>
              <a:buNone/>
            </a:pPr>
            <a:r>
              <a:rPr b="1" i="0" lang="en-US" sz="1450" u="none" cap="none" strike="noStrike">
                <a:solidFill>
                  <a:srgbClr val="78716C"/>
                </a:solidFill>
                <a:latin typeface="Calibri"/>
                <a:ea typeface="Calibri"/>
                <a:cs typeface="Calibri"/>
                <a:sym typeface="Calibri"/>
              </a:rPr>
              <a:t>Smart Contract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402336" y="1706880"/>
            <a:ext cx="2487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Contrato único con roles, aportes, gastos y validaciones de saldo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3172974" y="929649"/>
            <a:ext cx="2743200" cy="1650000"/>
          </a:xfrm>
          <a:prstGeom prst="roundRect">
            <a:avLst>
              <a:gd fmla="val 5854" name="adj"/>
            </a:avLst>
          </a:prstGeom>
          <a:solidFill>
            <a:srgbClr val="FFFFFF"/>
          </a:solidFill>
          <a:ln cap="flat" cmpd="sng" w="1905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36" name="Google Shape;136;p8"/>
          <p:cNvSpPr/>
          <p:nvPr/>
        </p:nvSpPr>
        <p:spPr>
          <a:xfrm>
            <a:off x="3172968" y="1021080"/>
            <a:ext cx="731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🔨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3904488" y="1021080"/>
            <a:ext cx="1920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Hardhat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3904488" y="1386840"/>
            <a:ext cx="192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16C"/>
              </a:buClr>
              <a:buSzPts val="950"/>
              <a:buFont typeface="Calibri"/>
              <a:buNone/>
            </a:pPr>
            <a:r>
              <a:rPr b="1" i="0" lang="en-US" sz="1450" u="none" cap="none" strike="noStrike">
                <a:solidFill>
                  <a:srgbClr val="78716C"/>
                </a:solidFill>
                <a:latin typeface="Calibri"/>
                <a:ea typeface="Calibri"/>
                <a:cs typeface="Calibri"/>
                <a:sym typeface="Calibri"/>
              </a:rPr>
              <a:t>Blockchain local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3300984" y="1706880"/>
            <a:ext cx="2487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Red de desarrollo con 20 wallets y 10.000 ETH de prueba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6071624" y="929649"/>
            <a:ext cx="2743200" cy="1650000"/>
          </a:xfrm>
          <a:prstGeom prst="roundRect">
            <a:avLst>
              <a:gd fmla="val 5854" name="adj"/>
            </a:avLst>
          </a:prstGeom>
          <a:solidFill>
            <a:srgbClr val="FFFFFF"/>
          </a:solidFill>
          <a:ln cap="flat" cmpd="sng" w="1905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41" name="Google Shape;141;p8"/>
          <p:cNvSpPr/>
          <p:nvPr/>
        </p:nvSpPr>
        <p:spPr>
          <a:xfrm>
            <a:off x="6071616" y="1021080"/>
            <a:ext cx="731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🔌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6803136" y="1021080"/>
            <a:ext cx="1920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ethers.js v6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6803136" y="1386840"/>
            <a:ext cx="192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16C"/>
              </a:buClr>
              <a:buSzPts val="950"/>
              <a:buFont typeface="Calibri"/>
              <a:buNone/>
            </a:pPr>
            <a:r>
              <a:rPr b="1" i="0" lang="en-US" sz="1450" u="none" cap="none" strike="noStrike">
                <a:solidFill>
                  <a:srgbClr val="78716C"/>
                </a:solidFill>
                <a:latin typeface="Calibri"/>
                <a:ea typeface="Calibri"/>
                <a:cs typeface="Calibri"/>
                <a:sym typeface="Calibri"/>
              </a:rPr>
              <a:t>Conexión Web3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199632" y="1706880"/>
            <a:ext cx="2487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Integración frontend ↔ contrato, manejo de BigInt y eventos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274325" y="2880350"/>
            <a:ext cx="2743200" cy="1650000"/>
          </a:xfrm>
          <a:prstGeom prst="roundRect">
            <a:avLst>
              <a:gd fmla="val 5854" name="adj"/>
            </a:avLst>
          </a:prstGeom>
          <a:solidFill>
            <a:srgbClr val="FFFFFF"/>
          </a:solidFill>
          <a:ln cap="flat" cmpd="sng" w="1905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46" name="Google Shape;146;p8"/>
          <p:cNvSpPr/>
          <p:nvPr/>
        </p:nvSpPr>
        <p:spPr>
          <a:xfrm>
            <a:off x="274320" y="2971800"/>
            <a:ext cx="731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⚛️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1005840" y="2971800"/>
            <a:ext cx="1920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Next.js 14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1005840" y="3337560"/>
            <a:ext cx="192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16C"/>
              </a:buClr>
              <a:buSzPts val="950"/>
              <a:buFont typeface="Calibri"/>
              <a:buNone/>
            </a:pPr>
            <a:r>
              <a:rPr b="1" i="0" lang="en-US" sz="1450" u="none" cap="none" strike="noStrike">
                <a:solidFill>
                  <a:srgbClr val="78716C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02341" y="3564423"/>
            <a:ext cx="24873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Pages Router, SSR desactivado en páginas con wallet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3172975" y="2880350"/>
            <a:ext cx="2743200" cy="1650000"/>
          </a:xfrm>
          <a:prstGeom prst="roundRect">
            <a:avLst>
              <a:gd fmla="val 5854" name="adj"/>
            </a:avLst>
          </a:prstGeom>
          <a:solidFill>
            <a:srgbClr val="FFFFFF"/>
          </a:solidFill>
          <a:ln cap="flat" cmpd="sng" w="1905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51" name="Google Shape;151;p8"/>
          <p:cNvSpPr/>
          <p:nvPr/>
        </p:nvSpPr>
        <p:spPr>
          <a:xfrm>
            <a:off x="3172968" y="2971800"/>
            <a:ext cx="731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🎨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3904488" y="2971800"/>
            <a:ext cx="1920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Tailwind CSS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3904488" y="3337560"/>
            <a:ext cx="192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16C"/>
              </a:buClr>
              <a:buSzPts val="950"/>
              <a:buFont typeface="Calibri"/>
              <a:buNone/>
            </a:pPr>
            <a:r>
              <a:rPr b="1" i="0" lang="en-US" sz="1450" u="none" cap="none" strike="noStrike">
                <a:solidFill>
                  <a:srgbClr val="78716C"/>
                </a:solidFill>
                <a:latin typeface="Calibri"/>
                <a:ea typeface="Calibri"/>
                <a:cs typeface="Calibri"/>
                <a:sym typeface="Calibri"/>
              </a:rPr>
              <a:t>Estilos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3300991" y="3564423"/>
            <a:ext cx="24873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UI responsiva con paleta naranja/ámbar consistente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6071625" y="2880350"/>
            <a:ext cx="2743200" cy="1650000"/>
          </a:xfrm>
          <a:prstGeom prst="roundRect">
            <a:avLst>
              <a:gd fmla="val 5854" name="adj"/>
            </a:avLst>
          </a:prstGeom>
          <a:solidFill>
            <a:srgbClr val="FFFFFF"/>
          </a:solidFill>
          <a:ln cap="flat" cmpd="sng" w="1905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56" name="Google Shape;156;p8"/>
          <p:cNvSpPr/>
          <p:nvPr/>
        </p:nvSpPr>
        <p:spPr>
          <a:xfrm>
            <a:off x="6071616" y="2971800"/>
            <a:ext cx="731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3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🦊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6803136" y="2971800"/>
            <a:ext cx="1920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580C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MetaMask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6803136" y="3337560"/>
            <a:ext cx="1920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716C"/>
              </a:buClr>
              <a:buSzPts val="950"/>
              <a:buFont typeface="Calibri"/>
              <a:buNone/>
            </a:pPr>
            <a:r>
              <a:rPr b="1" i="0" lang="en-US" sz="1450" u="none" cap="none" strike="noStrike">
                <a:solidFill>
                  <a:srgbClr val="78716C"/>
                </a:solidFill>
                <a:latin typeface="Calibri"/>
                <a:ea typeface="Calibri"/>
                <a:cs typeface="Calibri"/>
                <a:sym typeface="Calibri"/>
              </a:rPr>
              <a:t>Autenticación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6199641" y="3564423"/>
            <a:ext cx="24873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Wallet como identidad única, sin email ni contraseña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7ED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ED7AA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600">
                <a:solidFill>
                  <a:srgbClr val="FED7A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i="0" lang="en-US" sz="1600" u="none" cap="none" strike="noStrike">
                <a:solidFill>
                  <a:srgbClr val="FED7AA"/>
                </a:solidFill>
                <a:latin typeface="Calibri"/>
                <a:ea typeface="Calibri"/>
                <a:cs typeface="Calibri"/>
                <a:sym typeface="Calibri"/>
              </a:rPr>
              <a:t>  —  Próximos Pasos</a:t>
            </a:r>
            <a:endParaRPr b="0" i="0" sz="1600" u="none" cap="none" strike="noStrike">
              <a:solidFill>
                <a:srgbClr val="FED7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0" y="73152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8716C"/>
              </a:buClr>
              <a:buSzPts val="1800"/>
              <a:buFont typeface="Calibri"/>
              <a:buNone/>
            </a:pPr>
            <a:r>
              <a:rPr b="0" i="1" lang="en-US" sz="2200" u="none" cap="none" strike="noStrike">
                <a:solidFill>
                  <a:srgbClr val="78716C"/>
                </a:solidFill>
                <a:latin typeface="Calibri"/>
                <a:ea typeface="Calibri"/>
                <a:cs typeface="Calibri"/>
                <a:sym typeface="Calibri"/>
              </a:rPr>
              <a:t>Si continuáramos el proyecto…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365750" y="1469900"/>
            <a:ext cx="2651700" cy="2865900"/>
          </a:xfrm>
          <a:prstGeom prst="roundRect">
            <a:avLst>
              <a:gd fmla="val 4138" name="adj"/>
            </a:avLst>
          </a:prstGeom>
          <a:solidFill>
            <a:srgbClr val="FFFFFF"/>
          </a:solidFill>
          <a:ln cap="flat" cmpd="sng" w="1905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69" name="Google Shape;169;p9"/>
          <p:cNvSpPr/>
          <p:nvPr/>
        </p:nvSpPr>
        <p:spPr>
          <a:xfrm>
            <a:off x="502920" y="1716321"/>
            <a:ext cx="2377500" cy="387000"/>
          </a:xfrm>
          <a:prstGeom prst="roundRect">
            <a:avLst>
              <a:gd fmla="val 50000" name="adj"/>
            </a:avLst>
          </a:prstGeom>
          <a:solidFill>
            <a:srgbClr val="FB923C"/>
          </a:solidFill>
          <a:ln cap="flat" cmpd="sng" w="12700">
            <a:solidFill>
              <a:srgbClr val="FB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70" name="Google Shape;170;p9"/>
          <p:cNvSpPr/>
          <p:nvPr/>
        </p:nvSpPr>
        <p:spPr>
          <a:xfrm>
            <a:off x="502920" y="1716321"/>
            <a:ext cx="23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Corto plazo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548650" y="2277574"/>
            <a:ext cx="2286000" cy="18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🔸</a:t>
            </a:r>
            <a:r>
              <a:rPr lang="en-US" sz="165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Invitaciones por link</a:t>
            </a:r>
            <a:br>
              <a:rPr lang="en-US" sz="165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en-US" sz="165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o código QR</a:t>
            </a:r>
            <a:endParaRPr sz="1650" u="none" cap="none" strike="noStrike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0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🔸</a:t>
            </a:r>
            <a:r>
              <a:rPr lang="en-US" sz="165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Notificaciones en</a:t>
            </a:r>
            <a:br>
              <a:rPr lang="en-US" sz="165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     tiempo real con</a:t>
            </a:r>
            <a:br>
              <a:rPr lang="en-US" sz="165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     eventos on-chain</a:t>
            </a:r>
            <a:endParaRPr sz="1650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3200388" y="1469900"/>
            <a:ext cx="2651700" cy="2866200"/>
          </a:xfrm>
          <a:prstGeom prst="roundRect">
            <a:avLst>
              <a:gd fmla="val 4138" name="adj"/>
            </a:avLst>
          </a:prstGeom>
          <a:solidFill>
            <a:srgbClr val="FFFFFF"/>
          </a:solidFill>
          <a:ln cap="flat" cmpd="sng" w="1905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73" name="Google Shape;173;p9"/>
          <p:cNvSpPr/>
          <p:nvPr/>
        </p:nvSpPr>
        <p:spPr>
          <a:xfrm>
            <a:off x="3337556" y="1716321"/>
            <a:ext cx="2377500" cy="387000"/>
          </a:xfrm>
          <a:prstGeom prst="roundRect">
            <a:avLst>
              <a:gd fmla="val 50000" name="adj"/>
            </a:avLst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74" name="Google Shape;174;p9"/>
          <p:cNvSpPr/>
          <p:nvPr/>
        </p:nvSpPr>
        <p:spPr>
          <a:xfrm>
            <a:off x="3337556" y="1716321"/>
            <a:ext cx="23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Mediano plazo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3383274" y="2277577"/>
            <a:ext cx="2286000" cy="18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150"/>
              <a:buFont typeface="Calibri"/>
              <a:buNone/>
            </a:pPr>
            <a:r>
              <a:rPr lang="en-US" sz="165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🔸</a:t>
            </a:r>
            <a:r>
              <a:rPr lang="en-US" sz="165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Deploy en</a:t>
            </a:r>
            <a:r>
              <a:rPr lang="en-US" sz="165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5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Polygon o</a:t>
            </a:r>
            <a:br>
              <a:rPr lang="en-US" sz="165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en-US" sz="165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Sepolia</a:t>
            </a:r>
            <a:endParaRPr sz="1650" u="none" cap="none" strike="noStrike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150"/>
              <a:buFont typeface="Calibri"/>
              <a:buNone/>
            </a:pPr>
            <a:r>
              <a:t/>
            </a:r>
            <a:endParaRPr sz="1650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150"/>
              <a:buFont typeface="Calibri"/>
              <a:buNone/>
            </a:pPr>
            <a:r>
              <a:rPr lang="en-US" sz="165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🔸</a:t>
            </a:r>
            <a:r>
              <a:rPr lang="en-US" sz="165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Sistema de votación    </a:t>
            </a:r>
            <a:br>
              <a:rPr lang="en-US" sz="165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     para aprobar gastos</a:t>
            </a:r>
            <a:br>
              <a:rPr lang="en-US" sz="165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     grandes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150"/>
              <a:buFont typeface="Calibri"/>
              <a:buNone/>
            </a:pPr>
            <a:r>
              <a:t/>
            </a:r>
            <a:endParaRPr sz="1650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035026" y="1469900"/>
            <a:ext cx="2651700" cy="2866200"/>
          </a:xfrm>
          <a:prstGeom prst="roundRect">
            <a:avLst>
              <a:gd fmla="val 4138" name="adj"/>
            </a:avLst>
          </a:prstGeom>
          <a:solidFill>
            <a:srgbClr val="FFFFFF"/>
          </a:solidFill>
          <a:ln cap="flat" cmpd="sng" w="1905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77" name="Google Shape;177;p9"/>
          <p:cNvSpPr/>
          <p:nvPr/>
        </p:nvSpPr>
        <p:spPr>
          <a:xfrm>
            <a:off x="6172192" y="1716321"/>
            <a:ext cx="2377500" cy="387000"/>
          </a:xfrm>
          <a:prstGeom prst="roundRect">
            <a:avLst>
              <a:gd fmla="val 50000" name="adj"/>
            </a:avLst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78" name="Google Shape;178;p9"/>
          <p:cNvSpPr/>
          <p:nvPr/>
        </p:nvSpPr>
        <p:spPr>
          <a:xfrm>
            <a:off x="6172192" y="1716321"/>
            <a:ext cx="23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Largo plazo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6217923" y="2277574"/>
            <a:ext cx="2286000" cy="18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150"/>
              <a:buFont typeface="Calibri"/>
              <a:buNone/>
            </a:pPr>
            <a:r>
              <a:rPr lang="en-US" sz="165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🔸</a:t>
            </a:r>
            <a:r>
              <a:rPr lang="en-US" sz="165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Integración con</a:t>
            </a:r>
            <a:br>
              <a:rPr lang="en-US" sz="165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en-US" sz="1650" u="none" cap="none" strike="noStrike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protocolos DeFi</a:t>
            </a:r>
            <a:endParaRPr sz="1650" u="none" cap="none" strike="noStrike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150"/>
              <a:buFont typeface="Calibri"/>
              <a:buNone/>
            </a:pPr>
            <a:r>
              <a:t/>
            </a:r>
            <a:endParaRPr sz="1650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150"/>
              <a:buFont typeface="Calibri"/>
              <a:buNone/>
            </a:pPr>
            <a:r>
              <a:rPr lang="en-US" sz="165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🔸API para aplicaciones</a:t>
            </a:r>
            <a:br>
              <a:rPr lang="en-US" sz="165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>
                <a:solidFill>
                  <a:srgbClr val="1C1917"/>
                </a:solidFill>
                <a:latin typeface="Calibri"/>
                <a:ea typeface="Calibri"/>
                <a:cs typeface="Calibri"/>
                <a:sym typeface="Calibri"/>
              </a:rPr>
              <a:t>      de terceros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150"/>
              <a:buFont typeface="Calibri"/>
              <a:buNone/>
            </a:pPr>
            <a:r>
              <a:t/>
            </a:r>
            <a:endParaRPr sz="1650">
              <a:solidFill>
                <a:srgbClr val="1C191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580C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/>
          <p:cNvSpPr/>
          <p:nvPr/>
        </p:nvSpPr>
        <p:spPr>
          <a:xfrm>
            <a:off x="1433250" y="2518478"/>
            <a:ext cx="62775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DEBA"/>
              </a:buClr>
              <a:buSzPts val="1400"/>
              <a:buFont typeface="Calibri"/>
              <a:buNone/>
            </a:pPr>
            <a:r>
              <a:rPr b="1" i="1" lang="en-US" sz="1800">
                <a:solidFill>
                  <a:srgbClr val="FFF7ED"/>
                </a:solidFill>
                <a:latin typeface="Calibri"/>
                <a:ea typeface="Calibri"/>
                <a:cs typeface="Calibri"/>
                <a:sym typeface="Calibri"/>
              </a:rPr>
              <a:t>Hoy</a:t>
            </a:r>
            <a:r>
              <a:rPr i="1" lang="en-US" sz="1800">
                <a:solidFill>
                  <a:srgbClr val="FFF7ED"/>
                </a:solidFill>
                <a:latin typeface="Calibri"/>
                <a:ea typeface="Calibri"/>
                <a:cs typeface="Calibri"/>
                <a:sym typeface="Calibri"/>
              </a:rPr>
              <a:t>, es un proyecto entre amigos.</a:t>
            </a:r>
            <a:br>
              <a:rPr b="1" i="1" lang="en-US" sz="1800">
                <a:solidFill>
                  <a:srgbClr val="FFF7E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-US" sz="1800">
                <a:solidFill>
                  <a:srgbClr val="FFF7ED"/>
                </a:solidFill>
                <a:latin typeface="Calibri"/>
                <a:ea typeface="Calibri"/>
                <a:cs typeface="Calibri"/>
                <a:sym typeface="Calibri"/>
              </a:rPr>
              <a:t>Mañana, </a:t>
            </a:r>
            <a:r>
              <a:rPr i="1" lang="en-US" sz="1800">
                <a:solidFill>
                  <a:srgbClr val="FFF7ED"/>
                </a:solidFill>
                <a:latin typeface="Calibri"/>
                <a:ea typeface="Calibri"/>
                <a:cs typeface="Calibri"/>
                <a:sym typeface="Calibri"/>
              </a:rPr>
              <a:t>donde cualquier grupo, maneja su plata en común.</a:t>
            </a:r>
            <a:endParaRPr i="1" sz="1800">
              <a:solidFill>
                <a:srgbClr val="FFF7E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2510700" y="494800"/>
            <a:ext cx="4122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Calibri"/>
              <a:buNone/>
            </a:pPr>
            <a:r>
              <a:rPr b="0" i="0" lang="en-US" sz="7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🐄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10"/>
          <p:cNvCxnSpPr/>
          <p:nvPr/>
        </p:nvCxnSpPr>
        <p:spPr>
          <a:xfrm>
            <a:off x="3200400" y="3459480"/>
            <a:ext cx="2743200" cy="0"/>
          </a:xfrm>
          <a:prstGeom prst="straightConnector1">
            <a:avLst/>
          </a:prstGeom>
          <a:noFill/>
          <a:ln cap="flat" cmpd="sng" w="12700">
            <a:solidFill>
              <a:srgbClr val="FDDEB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10"/>
          <p:cNvSpPr/>
          <p:nvPr/>
        </p:nvSpPr>
        <p:spPr>
          <a:xfrm>
            <a:off x="2271900" y="1794593"/>
            <a:ext cx="46002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3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Esto fue </a:t>
            </a:r>
            <a:r>
              <a:rPr b="1" lang="en-US" sz="3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Vaquitapp</a:t>
            </a:r>
            <a:r>
              <a:rPr b="1" lang="en-US" sz="3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3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2971800" y="3611100"/>
            <a:ext cx="3200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Gracias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0" y="4639310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DEB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DDEBA"/>
                </a:solidFill>
                <a:latin typeface="Calibri"/>
                <a:ea typeface="Calibri"/>
                <a:cs typeface="Calibri"/>
                <a:sym typeface="Calibri"/>
              </a:rPr>
              <a:t>Universidad Champagnat · 2026  ·  github.com/MirandaGaston/Vaquitapp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